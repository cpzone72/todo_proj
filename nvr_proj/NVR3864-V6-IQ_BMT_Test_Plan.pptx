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1988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dirty="0"/>
              <a:t>NVR3864-V6-IQ</a:t>
            </a:r>
            <a:r>
              <a:rPr dirty="0"/>
              <a:t> </a:t>
            </a:r>
            <a:r>
              <a:rPr dirty="0" err="1"/>
              <a:t>신규</a:t>
            </a:r>
            <a:r>
              <a:rPr dirty="0"/>
              <a:t> </a:t>
            </a:r>
            <a:r>
              <a:rPr dirty="0" err="1"/>
              <a:t>도입</a:t>
            </a:r>
            <a:r>
              <a:rPr dirty="0"/>
              <a:t> BMT </a:t>
            </a:r>
            <a:r>
              <a:rPr dirty="0" err="1"/>
              <a:t>테스트</a:t>
            </a:r>
            <a:r>
              <a:rPr dirty="0"/>
              <a:t> </a:t>
            </a:r>
            <a:r>
              <a:rPr dirty="0" err="1"/>
              <a:t>계획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418901"/>
            <a:ext cx="7600426" cy="1752600"/>
          </a:xfrm>
        </p:spPr>
        <p:txBody>
          <a:bodyPr>
            <a:noAutofit/>
          </a:bodyPr>
          <a:lstStyle/>
          <a:p>
            <a:r>
              <a:rPr sz="2400" dirty="0" err="1"/>
              <a:t>성능</a:t>
            </a:r>
            <a:r>
              <a:rPr sz="2400" dirty="0"/>
              <a:t>, </a:t>
            </a:r>
            <a:r>
              <a:rPr sz="2400" dirty="0" err="1"/>
              <a:t>안정성</a:t>
            </a:r>
            <a:r>
              <a:rPr sz="2400" dirty="0"/>
              <a:t>, AI </a:t>
            </a:r>
            <a:r>
              <a:rPr sz="2400" dirty="0" err="1"/>
              <a:t>기능</a:t>
            </a:r>
            <a:r>
              <a:rPr sz="2400" dirty="0"/>
              <a:t> </a:t>
            </a:r>
            <a:r>
              <a:rPr sz="2400" dirty="0" err="1"/>
              <a:t>검증을</a:t>
            </a:r>
            <a:r>
              <a:rPr sz="2400" dirty="0"/>
              <a:t> </a:t>
            </a:r>
            <a:r>
              <a:rPr sz="2400" dirty="0" err="1"/>
              <a:t>위한</a:t>
            </a:r>
            <a:r>
              <a:rPr sz="2400" dirty="0"/>
              <a:t> </a:t>
            </a:r>
            <a:r>
              <a:rPr sz="2400" dirty="0" err="1"/>
              <a:t>벤치마킹</a:t>
            </a:r>
            <a:r>
              <a:rPr sz="2400" dirty="0"/>
              <a:t> </a:t>
            </a:r>
            <a:r>
              <a:rPr sz="2400" dirty="0" err="1"/>
              <a:t>테스트</a:t>
            </a:r>
            <a:r>
              <a:rPr sz="2400" dirty="0"/>
              <a:t> </a:t>
            </a:r>
            <a:r>
              <a:rPr sz="2400" dirty="0" err="1"/>
              <a:t>절차</a:t>
            </a:r>
            <a:endParaRPr sz="2400" dirty="0"/>
          </a:p>
          <a:p>
            <a:endParaRPr sz="2400" dirty="0"/>
          </a:p>
          <a:p>
            <a:r>
              <a:rPr sz="2400" dirty="0" err="1"/>
              <a:t>대상</a:t>
            </a:r>
            <a:r>
              <a:rPr sz="2400" dirty="0"/>
              <a:t> </a:t>
            </a:r>
            <a:r>
              <a:rPr sz="2400" dirty="0" err="1"/>
              <a:t>장비</a:t>
            </a:r>
            <a:r>
              <a:rPr sz="2400" dirty="0"/>
              <a:t>: NVR3864-V6-IQ (64ch, 8HDD, 2U)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dirty="0"/>
              <a:t>1. BMT </a:t>
            </a:r>
            <a:r>
              <a:rPr sz="2800" dirty="0" err="1"/>
              <a:t>개요</a:t>
            </a:r>
            <a:r>
              <a:rPr sz="2800" dirty="0"/>
              <a:t> 및 </a:t>
            </a:r>
            <a:r>
              <a:rPr sz="2800" dirty="0" err="1"/>
              <a:t>목적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036" y="2325848"/>
            <a:ext cx="8229600" cy="3135385"/>
          </a:xfrm>
        </p:spPr>
        <p:txBody>
          <a:bodyPr>
            <a:noAutofit/>
          </a:bodyPr>
          <a:lstStyle/>
          <a:p>
            <a:r>
              <a:rPr sz="2000" dirty="0"/>
              <a:t>■ </a:t>
            </a:r>
            <a:r>
              <a:rPr sz="2000" dirty="0" err="1"/>
              <a:t>대상</a:t>
            </a:r>
            <a:r>
              <a:rPr sz="2000" dirty="0"/>
              <a:t> </a:t>
            </a:r>
            <a:r>
              <a:rPr sz="2000" dirty="0" err="1"/>
              <a:t>장비</a:t>
            </a:r>
            <a:endParaRPr sz="2000" dirty="0"/>
          </a:p>
          <a:p>
            <a:r>
              <a:rPr sz="2000" dirty="0"/>
              <a:t>- </a:t>
            </a:r>
            <a:r>
              <a:rPr sz="2000" dirty="0" err="1"/>
              <a:t>모델명</a:t>
            </a:r>
            <a:r>
              <a:rPr sz="2000" dirty="0"/>
              <a:t>: NVR3864-V6-IQ</a:t>
            </a:r>
          </a:p>
          <a:p>
            <a:r>
              <a:rPr sz="2000" dirty="0"/>
              <a:t>- </a:t>
            </a:r>
            <a:r>
              <a:rPr sz="2000" dirty="0" err="1"/>
              <a:t>주요</a:t>
            </a:r>
            <a:r>
              <a:rPr sz="2000" dirty="0"/>
              <a:t> </a:t>
            </a:r>
            <a:r>
              <a:rPr sz="2000" dirty="0" err="1"/>
              <a:t>스펙</a:t>
            </a:r>
            <a:r>
              <a:rPr sz="2000" dirty="0"/>
              <a:t>: 64채널 </a:t>
            </a:r>
            <a:r>
              <a:rPr sz="2000" dirty="0" err="1"/>
              <a:t>입력</a:t>
            </a:r>
            <a:r>
              <a:rPr sz="2000" dirty="0"/>
              <a:t>, 8 SATA HDD, RAID </a:t>
            </a:r>
            <a:r>
              <a:rPr sz="2000" dirty="0" err="1"/>
              <a:t>지원</a:t>
            </a:r>
            <a:r>
              <a:rPr sz="2000" dirty="0"/>
              <a:t>, 4K </a:t>
            </a:r>
            <a:r>
              <a:rPr sz="2000" dirty="0" err="1"/>
              <a:t>출력</a:t>
            </a:r>
            <a:endParaRPr sz="2000" dirty="0"/>
          </a:p>
          <a:p>
            <a:endParaRPr sz="2000" dirty="0"/>
          </a:p>
          <a:p>
            <a:r>
              <a:rPr sz="2000" dirty="0"/>
              <a:t>■ </a:t>
            </a:r>
            <a:r>
              <a:rPr sz="2000" dirty="0" err="1"/>
              <a:t>목적</a:t>
            </a:r>
            <a:endParaRPr sz="2000" dirty="0"/>
          </a:p>
          <a:p>
            <a:r>
              <a:rPr sz="2000" dirty="0"/>
              <a:t>- 64채널 </a:t>
            </a:r>
            <a:r>
              <a:rPr sz="2000" dirty="0" err="1"/>
              <a:t>대용량</a:t>
            </a:r>
            <a:r>
              <a:rPr sz="2000" dirty="0"/>
              <a:t> </a:t>
            </a:r>
            <a:r>
              <a:rPr sz="2000" dirty="0" err="1"/>
              <a:t>데이터</a:t>
            </a:r>
            <a:r>
              <a:rPr sz="2000" dirty="0"/>
              <a:t> </a:t>
            </a:r>
            <a:r>
              <a:rPr sz="2000" dirty="0" err="1"/>
              <a:t>처리</a:t>
            </a:r>
            <a:r>
              <a:rPr sz="2000" dirty="0"/>
              <a:t> </a:t>
            </a:r>
            <a:r>
              <a:rPr sz="2000" dirty="0" err="1"/>
              <a:t>능력</a:t>
            </a:r>
            <a:r>
              <a:rPr sz="2000" dirty="0"/>
              <a:t> </a:t>
            </a:r>
            <a:r>
              <a:rPr sz="2000" dirty="0" err="1"/>
              <a:t>검증</a:t>
            </a:r>
            <a:endParaRPr sz="2000" dirty="0"/>
          </a:p>
          <a:p>
            <a:r>
              <a:rPr sz="2000" dirty="0"/>
              <a:t>- AI </a:t>
            </a:r>
            <a:r>
              <a:rPr sz="2000" dirty="0" err="1"/>
              <a:t>분석</a:t>
            </a:r>
            <a:r>
              <a:rPr sz="2000" dirty="0"/>
              <a:t> </a:t>
            </a:r>
            <a:r>
              <a:rPr sz="2000" dirty="0" err="1"/>
              <a:t>기능</a:t>
            </a:r>
            <a:r>
              <a:rPr sz="2000" dirty="0"/>
              <a:t>(VCA) </a:t>
            </a:r>
            <a:r>
              <a:rPr sz="2000" dirty="0" err="1"/>
              <a:t>정확도</a:t>
            </a:r>
            <a:r>
              <a:rPr sz="2000" dirty="0"/>
              <a:t> </a:t>
            </a:r>
            <a:r>
              <a:rPr sz="2000" dirty="0" err="1"/>
              <a:t>확인</a:t>
            </a:r>
            <a:endParaRPr sz="2000" dirty="0"/>
          </a:p>
          <a:p>
            <a:r>
              <a:rPr sz="2000" dirty="0"/>
              <a:t>- RAID 및 Failover </a:t>
            </a:r>
            <a:r>
              <a:rPr sz="2000" dirty="0" err="1"/>
              <a:t>안정성</a:t>
            </a:r>
            <a:r>
              <a:rPr sz="2000" dirty="0"/>
              <a:t> </a:t>
            </a:r>
            <a:r>
              <a:rPr sz="2000" dirty="0" err="1"/>
              <a:t>확보를</a:t>
            </a:r>
            <a:r>
              <a:rPr sz="2000" dirty="0"/>
              <a:t> </a:t>
            </a:r>
            <a:r>
              <a:rPr sz="2000" dirty="0" err="1"/>
              <a:t>통한</a:t>
            </a:r>
            <a:r>
              <a:rPr sz="2000" dirty="0"/>
              <a:t> </a:t>
            </a:r>
            <a:r>
              <a:rPr sz="2000" dirty="0" err="1"/>
              <a:t>현장</a:t>
            </a:r>
            <a:r>
              <a:rPr sz="2000" dirty="0"/>
              <a:t> </a:t>
            </a:r>
            <a:r>
              <a:rPr sz="2000" dirty="0" err="1"/>
              <a:t>도입</a:t>
            </a:r>
            <a:r>
              <a:rPr sz="2000" dirty="0"/>
              <a:t> </a:t>
            </a:r>
            <a:r>
              <a:rPr sz="2000" dirty="0" err="1"/>
              <a:t>적합성</a:t>
            </a:r>
            <a:r>
              <a:rPr sz="2000" dirty="0"/>
              <a:t> </a:t>
            </a:r>
            <a:r>
              <a:rPr sz="2000" dirty="0" err="1"/>
              <a:t>판단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2. </a:t>
            </a:r>
            <a:r>
              <a:rPr sz="2400" dirty="0" err="1"/>
              <a:t>테스트</a:t>
            </a:r>
            <a:r>
              <a:rPr sz="2400" dirty="0"/>
              <a:t> </a:t>
            </a:r>
            <a:r>
              <a:rPr sz="2400" dirty="0" err="1"/>
              <a:t>환경</a:t>
            </a:r>
            <a:r>
              <a:rPr sz="2400" dirty="0"/>
              <a:t> </a:t>
            </a:r>
            <a:r>
              <a:rPr sz="2400" dirty="0" err="1"/>
              <a:t>구성</a:t>
            </a:r>
            <a:r>
              <a:rPr sz="2400" dirty="0"/>
              <a:t> (</a:t>
            </a:r>
            <a:r>
              <a:rPr sz="2400" dirty="0" err="1"/>
              <a:t>권장</a:t>
            </a:r>
            <a:r>
              <a:rPr sz="24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■ NVR</a:t>
            </a:r>
          </a:p>
          <a:p>
            <a:r>
              <a:rPr sz="2000" dirty="0"/>
              <a:t>- NVR3864-V6-IQ </a:t>
            </a:r>
            <a:r>
              <a:rPr sz="2000" dirty="0" err="1"/>
              <a:t>본체</a:t>
            </a:r>
            <a:r>
              <a:rPr sz="2000" dirty="0"/>
              <a:t> (HDD 8TB x 8EA, RAID 5/6 </a:t>
            </a:r>
            <a:r>
              <a:rPr sz="2000" dirty="0" err="1"/>
              <a:t>권장</a:t>
            </a:r>
            <a:r>
              <a:rPr sz="2000" dirty="0"/>
              <a:t>)</a:t>
            </a:r>
          </a:p>
          <a:p>
            <a:endParaRPr sz="2000" dirty="0"/>
          </a:p>
          <a:p>
            <a:r>
              <a:rPr sz="2000" dirty="0"/>
              <a:t>■ </a:t>
            </a:r>
            <a:r>
              <a:rPr sz="2000" dirty="0" err="1"/>
              <a:t>카메라</a:t>
            </a:r>
            <a:r>
              <a:rPr sz="2000" dirty="0"/>
              <a:t> 및 </a:t>
            </a:r>
            <a:r>
              <a:rPr sz="2000" dirty="0" err="1"/>
              <a:t>입력</a:t>
            </a:r>
            <a:r>
              <a:rPr sz="2000" dirty="0"/>
              <a:t> </a:t>
            </a:r>
            <a:r>
              <a:rPr sz="2000" dirty="0" err="1"/>
              <a:t>소스</a:t>
            </a:r>
            <a:endParaRPr sz="2000" dirty="0"/>
          </a:p>
          <a:p>
            <a:r>
              <a:rPr sz="2000" dirty="0"/>
              <a:t>- </a:t>
            </a:r>
            <a:r>
              <a:rPr sz="2000" dirty="0" err="1"/>
              <a:t>실물</a:t>
            </a:r>
            <a:r>
              <a:rPr sz="2000" dirty="0"/>
              <a:t> </a:t>
            </a:r>
            <a:r>
              <a:rPr sz="2000" dirty="0" err="1"/>
              <a:t>카메라</a:t>
            </a:r>
            <a:r>
              <a:rPr sz="2000" dirty="0"/>
              <a:t>: 4K(8MP) AI </a:t>
            </a:r>
            <a:r>
              <a:rPr sz="2000" dirty="0" err="1"/>
              <a:t>카메라</a:t>
            </a:r>
            <a:r>
              <a:rPr sz="2000" dirty="0"/>
              <a:t> 4대 </a:t>
            </a:r>
            <a:r>
              <a:rPr sz="2000" dirty="0" err="1"/>
              <a:t>이상</a:t>
            </a:r>
            <a:r>
              <a:rPr sz="2000" dirty="0"/>
              <a:t> (</a:t>
            </a:r>
            <a:r>
              <a:rPr sz="2000" dirty="0" err="1"/>
              <a:t>지능형</a:t>
            </a:r>
            <a:r>
              <a:rPr sz="2000" dirty="0"/>
              <a:t> </a:t>
            </a:r>
            <a:r>
              <a:rPr sz="2000" dirty="0" err="1"/>
              <a:t>기능</a:t>
            </a:r>
            <a:r>
              <a:rPr sz="2000" dirty="0"/>
              <a:t> </a:t>
            </a:r>
            <a:r>
              <a:rPr sz="2000" dirty="0" err="1"/>
              <a:t>검증용</a:t>
            </a:r>
            <a:r>
              <a:rPr sz="2000" dirty="0"/>
              <a:t>)</a:t>
            </a:r>
          </a:p>
          <a:p>
            <a:r>
              <a:rPr sz="2000" dirty="0"/>
              <a:t>- </a:t>
            </a:r>
            <a:r>
              <a:rPr sz="2000" dirty="0" err="1"/>
              <a:t>시뮬레이터</a:t>
            </a:r>
            <a:r>
              <a:rPr sz="2000" dirty="0"/>
              <a:t>: RTSP 64채널 풀 </a:t>
            </a:r>
            <a:r>
              <a:rPr sz="2000" dirty="0" err="1"/>
              <a:t>로드</a:t>
            </a:r>
            <a:r>
              <a:rPr sz="2000" dirty="0"/>
              <a:t> (H.265, 4Mbps </a:t>
            </a:r>
            <a:r>
              <a:rPr sz="2000" dirty="0" err="1"/>
              <a:t>기준</a:t>
            </a:r>
            <a:r>
              <a:rPr sz="2000" dirty="0"/>
              <a:t>)</a:t>
            </a:r>
          </a:p>
          <a:p>
            <a:endParaRPr sz="2000" dirty="0"/>
          </a:p>
          <a:p>
            <a:r>
              <a:rPr sz="2000" dirty="0"/>
              <a:t>■ </a:t>
            </a:r>
            <a:r>
              <a:rPr sz="2000" dirty="0" err="1"/>
              <a:t>디스플레이</a:t>
            </a:r>
            <a:r>
              <a:rPr sz="2000" dirty="0"/>
              <a:t> 및 </a:t>
            </a:r>
            <a:r>
              <a:rPr sz="2000" dirty="0" err="1"/>
              <a:t>네트워크</a:t>
            </a:r>
            <a:endParaRPr sz="2000" dirty="0"/>
          </a:p>
          <a:p>
            <a:r>
              <a:rPr sz="2000" dirty="0"/>
              <a:t>- 4K </a:t>
            </a:r>
            <a:r>
              <a:rPr sz="2000" dirty="0" err="1"/>
              <a:t>모니터</a:t>
            </a:r>
            <a:r>
              <a:rPr sz="2000" dirty="0"/>
              <a:t> 2대 (HDMI 1/2 </a:t>
            </a:r>
            <a:r>
              <a:rPr sz="2000" dirty="0" err="1"/>
              <a:t>독립</a:t>
            </a:r>
            <a:r>
              <a:rPr sz="2000" dirty="0"/>
              <a:t> </a:t>
            </a:r>
            <a:r>
              <a:rPr sz="2000" dirty="0" err="1"/>
              <a:t>출력</a:t>
            </a:r>
            <a:r>
              <a:rPr sz="2000" dirty="0"/>
              <a:t>)</a:t>
            </a:r>
          </a:p>
          <a:p>
            <a:r>
              <a:rPr sz="2000" dirty="0"/>
              <a:t>- L2 </a:t>
            </a:r>
            <a:r>
              <a:rPr sz="2000" dirty="0" err="1"/>
              <a:t>기가비트</a:t>
            </a:r>
            <a:r>
              <a:rPr sz="2000" dirty="0"/>
              <a:t> </a:t>
            </a:r>
            <a:r>
              <a:rPr sz="2000" dirty="0" err="1"/>
              <a:t>스위치</a:t>
            </a:r>
            <a:r>
              <a:rPr sz="2000" dirty="0"/>
              <a:t>, </a:t>
            </a:r>
            <a:r>
              <a:rPr sz="2000" dirty="0" err="1"/>
              <a:t>클라이언트</a:t>
            </a:r>
            <a:r>
              <a:rPr sz="2000" dirty="0"/>
              <a:t> PC 1대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400" dirty="0"/>
              <a:t>3-A. </a:t>
            </a:r>
            <a:r>
              <a:rPr sz="2400" dirty="0" err="1"/>
              <a:t>기본</a:t>
            </a:r>
            <a:r>
              <a:rPr sz="2400" dirty="0"/>
              <a:t> </a:t>
            </a:r>
            <a:r>
              <a:rPr sz="2400" dirty="0" err="1"/>
              <a:t>성능</a:t>
            </a:r>
            <a:r>
              <a:rPr sz="2400" dirty="0"/>
              <a:t> 및 UI (General Performance)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/>
              <a:t>A-1. </a:t>
            </a:r>
            <a:r>
              <a:rPr sz="1800" dirty="0" err="1"/>
              <a:t>부팅</a:t>
            </a:r>
            <a:r>
              <a:rPr sz="1800" dirty="0"/>
              <a:t> </a:t>
            </a:r>
            <a:r>
              <a:rPr sz="1800" dirty="0" err="1"/>
              <a:t>속도</a:t>
            </a:r>
            <a:endParaRPr sz="1800" dirty="0"/>
          </a:p>
          <a:p>
            <a:r>
              <a:rPr sz="1800" dirty="0"/>
              <a:t>   - </a:t>
            </a:r>
            <a:r>
              <a:rPr sz="1800" dirty="0" err="1"/>
              <a:t>콜드</a:t>
            </a:r>
            <a:r>
              <a:rPr sz="1800" dirty="0"/>
              <a:t> </a:t>
            </a:r>
            <a:r>
              <a:rPr sz="1800" dirty="0" err="1"/>
              <a:t>부팅</a:t>
            </a:r>
            <a:r>
              <a:rPr sz="1800" dirty="0"/>
              <a:t> 후 </a:t>
            </a:r>
            <a:r>
              <a:rPr sz="1800" dirty="0" err="1"/>
              <a:t>녹화</a:t>
            </a:r>
            <a:r>
              <a:rPr sz="1800" dirty="0"/>
              <a:t> </a:t>
            </a:r>
            <a:r>
              <a:rPr sz="1800" dirty="0" err="1"/>
              <a:t>시작까지</a:t>
            </a:r>
            <a:r>
              <a:rPr sz="1800" dirty="0"/>
              <a:t> 3분 </a:t>
            </a:r>
            <a:r>
              <a:rPr sz="1800" dirty="0" err="1"/>
              <a:t>이내</a:t>
            </a:r>
            <a:endParaRPr sz="1800" dirty="0"/>
          </a:p>
          <a:p>
            <a:endParaRPr sz="1800" dirty="0"/>
          </a:p>
          <a:p>
            <a:r>
              <a:rPr sz="1800" dirty="0"/>
              <a:t>A-2. </a:t>
            </a:r>
            <a:r>
              <a:rPr sz="1800" dirty="0" err="1"/>
              <a:t>출력</a:t>
            </a:r>
            <a:r>
              <a:rPr sz="1800" dirty="0"/>
              <a:t> </a:t>
            </a:r>
            <a:r>
              <a:rPr sz="1800" dirty="0" err="1"/>
              <a:t>해상도</a:t>
            </a:r>
            <a:endParaRPr sz="1800" dirty="0"/>
          </a:p>
          <a:p>
            <a:r>
              <a:rPr sz="1800" dirty="0"/>
              <a:t>   - HDMI 1/2 </a:t>
            </a:r>
            <a:r>
              <a:rPr sz="1800" dirty="0" err="1"/>
              <a:t>독립</a:t>
            </a:r>
            <a:r>
              <a:rPr sz="1800" dirty="0"/>
              <a:t> 4K </a:t>
            </a:r>
            <a:r>
              <a:rPr sz="1800" dirty="0" err="1"/>
              <a:t>출력</a:t>
            </a:r>
            <a:r>
              <a:rPr sz="1800" dirty="0"/>
              <a:t> </a:t>
            </a:r>
            <a:r>
              <a:rPr sz="1800" dirty="0" err="1"/>
              <a:t>확인</a:t>
            </a:r>
            <a:r>
              <a:rPr sz="1800" dirty="0"/>
              <a:t> (60Hz/30Hz)</a:t>
            </a:r>
          </a:p>
          <a:p>
            <a:endParaRPr sz="1800" dirty="0"/>
          </a:p>
          <a:p>
            <a:r>
              <a:rPr sz="1800" dirty="0"/>
              <a:t>A-3. UI </a:t>
            </a:r>
            <a:r>
              <a:rPr sz="1800" dirty="0" err="1"/>
              <a:t>반응성</a:t>
            </a:r>
            <a:endParaRPr sz="1800" dirty="0"/>
          </a:p>
          <a:p>
            <a:r>
              <a:rPr sz="1800" dirty="0"/>
              <a:t>   - 64채널 </a:t>
            </a:r>
            <a:r>
              <a:rPr sz="1800" dirty="0" err="1"/>
              <a:t>라이브</a:t>
            </a:r>
            <a:r>
              <a:rPr sz="1800" dirty="0"/>
              <a:t> </a:t>
            </a:r>
            <a:r>
              <a:rPr sz="1800" dirty="0" err="1"/>
              <a:t>상태에서</a:t>
            </a:r>
            <a:r>
              <a:rPr sz="1800" dirty="0"/>
              <a:t> </a:t>
            </a:r>
            <a:r>
              <a:rPr sz="1800" dirty="0" err="1"/>
              <a:t>메뉴</a:t>
            </a:r>
            <a:r>
              <a:rPr sz="1800" dirty="0"/>
              <a:t> </a:t>
            </a:r>
            <a:r>
              <a:rPr sz="1800" dirty="0" err="1"/>
              <a:t>진입</a:t>
            </a:r>
            <a:r>
              <a:rPr sz="1800" dirty="0"/>
              <a:t>/</a:t>
            </a:r>
            <a:r>
              <a:rPr sz="1800" dirty="0" err="1"/>
              <a:t>전환</a:t>
            </a:r>
            <a:r>
              <a:rPr sz="1800" dirty="0"/>
              <a:t> 시 </a:t>
            </a:r>
            <a:r>
              <a:rPr sz="1800" dirty="0" err="1"/>
              <a:t>지연</a:t>
            </a:r>
            <a:r>
              <a:rPr sz="1800" dirty="0"/>
              <a:t>(Lag) </a:t>
            </a:r>
            <a:r>
              <a:rPr sz="1800" dirty="0" err="1"/>
              <a:t>없음</a:t>
            </a:r>
            <a:r>
              <a:rPr sz="1800" dirty="0"/>
              <a:t> </a:t>
            </a:r>
            <a:r>
              <a:rPr sz="1800" dirty="0" err="1"/>
              <a:t>확인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400" dirty="0"/>
              <a:t>3-B. </a:t>
            </a:r>
            <a:r>
              <a:rPr sz="2400" dirty="0" err="1"/>
              <a:t>영상</a:t>
            </a:r>
            <a:r>
              <a:rPr sz="2400" dirty="0"/>
              <a:t> </a:t>
            </a:r>
            <a:r>
              <a:rPr sz="2400" dirty="0" err="1"/>
              <a:t>처리</a:t>
            </a:r>
            <a:r>
              <a:rPr sz="2400" dirty="0"/>
              <a:t> 및 </a:t>
            </a:r>
            <a:r>
              <a:rPr sz="2400" dirty="0" err="1"/>
              <a:t>부하</a:t>
            </a:r>
            <a:r>
              <a:rPr sz="2400" dirty="0"/>
              <a:t> (Processing &amp; Load)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B-1. </a:t>
            </a:r>
            <a:r>
              <a:rPr sz="2000" dirty="0" err="1"/>
              <a:t>입력</a:t>
            </a:r>
            <a:r>
              <a:rPr sz="2000" dirty="0"/>
              <a:t> </a:t>
            </a:r>
            <a:r>
              <a:rPr sz="2000" dirty="0" err="1"/>
              <a:t>대역폭</a:t>
            </a:r>
            <a:r>
              <a:rPr sz="2000" dirty="0"/>
              <a:t> </a:t>
            </a:r>
            <a:r>
              <a:rPr sz="2000" dirty="0" err="1"/>
              <a:t>한계</a:t>
            </a:r>
            <a:r>
              <a:rPr sz="2000" dirty="0"/>
              <a:t> </a:t>
            </a:r>
            <a:r>
              <a:rPr sz="2000" dirty="0" err="1"/>
              <a:t>테스트</a:t>
            </a:r>
            <a:endParaRPr sz="2000" dirty="0"/>
          </a:p>
          <a:p>
            <a:r>
              <a:rPr sz="2000" dirty="0"/>
              <a:t>   - 384Mbps(Smart Off) </a:t>
            </a:r>
            <a:r>
              <a:rPr sz="2000" dirty="0" err="1"/>
              <a:t>부하</a:t>
            </a:r>
            <a:r>
              <a:rPr sz="2000" dirty="0"/>
              <a:t> </a:t>
            </a:r>
            <a:r>
              <a:rPr sz="2000" dirty="0" err="1"/>
              <a:t>인가</a:t>
            </a:r>
            <a:r>
              <a:rPr sz="2000" dirty="0"/>
              <a:t> 시 </a:t>
            </a:r>
            <a:r>
              <a:rPr sz="2000" dirty="0" err="1"/>
              <a:t>프레임</a:t>
            </a:r>
            <a:r>
              <a:rPr sz="2000" dirty="0"/>
              <a:t> </a:t>
            </a:r>
            <a:r>
              <a:rPr sz="2000" dirty="0" err="1"/>
              <a:t>드랍</a:t>
            </a:r>
            <a:r>
              <a:rPr sz="2000" dirty="0"/>
              <a:t> </a:t>
            </a:r>
            <a:r>
              <a:rPr sz="2000" dirty="0" err="1"/>
              <a:t>여부</a:t>
            </a:r>
            <a:endParaRPr sz="2000" dirty="0"/>
          </a:p>
          <a:p>
            <a:endParaRPr sz="2000" dirty="0"/>
          </a:p>
          <a:p>
            <a:r>
              <a:rPr sz="2000" dirty="0"/>
              <a:t>B-2. </a:t>
            </a:r>
            <a:r>
              <a:rPr sz="2000" dirty="0" err="1"/>
              <a:t>압축</a:t>
            </a:r>
            <a:r>
              <a:rPr sz="2000" dirty="0"/>
              <a:t> </a:t>
            </a:r>
            <a:r>
              <a:rPr sz="2000" dirty="0" err="1"/>
              <a:t>효율</a:t>
            </a:r>
            <a:r>
              <a:rPr sz="2000" dirty="0"/>
              <a:t> </a:t>
            </a:r>
            <a:r>
              <a:rPr sz="2000" dirty="0" err="1"/>
              <a:t>검증</a:t>
            </a:r>
            <a:endParaRPr sz="2000" dirty="0"/>
          </a:p>
          <a:p>
            <a:r>
              <a:rPr sz="2000" dirty="0"/>
              <a:t>   - Ultra 265 vs H.264 </a:t>
            </a:r>
            <a:r>
              <a:rPr sz="2000" dirty="0" err="1"/>
              <a:t>비트레이트</a:t>
            </a:r>
            <a:r>
              <a:rPr sz="2000" dirty="0"/>
              <a:t> </a:t>
            </a:r>
            <a:r>
              <a:rPr sz="2000" dirty="0" err="1"/>
              <a:t>절감률</a:t>
            </a:r>
            <a:r>
              <a:rPr sz="2000" dirty="0"/>
              <a:t> </a:t>
            </a:r>
            <a:r>
              <a:rPr sz="2000" dirty="0" err="1"/>
              <a:t>비교</a:t>
            </a:r>
            <a:r>
              <a:rPr sz="2000" dirty="0"/>
              <a:t> (약 50%)</a:t>
            </a:r>
          </a:p>
          <a:p>
            <a:endParaRPr sz="2000" dirty="0"/>
          </a:p>
          <a:p>
            <a:r>
              <a:rPr sz="2000" dirty="0"/>
              <a:t>B-3. </a:t>
            </a:r>
            <a:r>
              <a:rPr sz="2000" dirty="0" err="1"/>
              <a:t>디코딩</a:t>
            </a:r>
            <a:r>
              <a:rPr sz="2000" dirty="0"/>
              <a:t> </a:t>
            </a:r>
            <a:r>
              <a:rPr sz="2000" dirty="0" err="1"/>
              <a:t>능력</a:t>
            </a:r>
            <a:endParaRPr sz="2000" dirty="0"/>
          </a:p>
          <a:p>
            <a:r>
              <a:rPr sz="2000" dirty="0"/>
              <a:t>   - 4K 8채널 </a:t>
            </a:r>
            <a:r>
              <a:rPr sz="2000" dirty="0" err="1"/>
              <a:t>또는</a:t>
            </a:r>
            <a:r>
              <a:rPr sz="2000" dirty="0"/>
              <a:t> 2MP 32채널 </a:t>
            </a:r>
            <a:r>
              <a:rPr sz="2000" dirty="0" err="1"/>
              <a:t>동시</a:t>
            </a:r>
            <a:r>
              <a:rPr sz="2000" dirty="0"/>
              <a:t> </a:t>
            </a:r>
            <a:r>
              <a:rPr sz="2000" dirty="0" err="1"/>
              <a:t>라이브</a:t>
            </a:r>
            <a:r>
              <a:rPr sz="2000" dirty="0"/>
              <a:t> </a:t>
            </a:r>
            <a:r>
              <a:rPr sz="2000" dirty="0" err="1"/>
              <a:t>시청</a:t>
            </a:r>
            <a:r>
              <a:rPr sz="2000" dirty="0"/>
              <a:t> 시 </a:t>
            </a:r>
            <a:r>
              <a:rPr sz="2000" dirty="0" err="1"/>
              <a:t>부드러움</a:t>
            </a:r>
            <a:r>
              <a:rPr sz="2000" dirty="0"/>
              <a:t> </a:t>
            </a:r>
            <a:r>
              <a:rPr sz="2000" dirty="0" err="1"/>
              <a:t>확인</a:t>
            </a:r>
            <a:endParaRPr sz="2000" dirty="0"/>
          </a:p>
          <a:p>
            <a:endParaRPr sz="2000" dirty="0"/>
          </a:p>
          <a:p>
            <a:r>
              <a:rPr sz="2000" dirty="0"/>
              <a:t>B-4. </a:t>
            </a:r>
            <a:r>
              <a:rPr sz="2000" dirty="0" err="1"/>
              <a:t>장기</a:t>
            </a:r>
            <a:r>
              <a:rPr sz="2000" dirty="0"/>
              <a:t> </a:t>
            </a:r>
            <a:r>
              <a:rPr sz="2000" dirty="0" err="1"/>
              <a:t>부하</a:t>
            </a:r>
            <a:r>
              <a:rPr sz="2000" dirty="0"/>
              <a:t> </a:t>
            </a:r>
            <a:r>
              <a:rPr sz="2000" dirty="0" err="1"/>
              <a:t>테스트</a:t>
            </a:r>
            <a:endParaRPr sz="2000" dirty="0"/>
          </a:p>
          <a:p>
            <a:r>
              <a:rPr sz="2000" dirty="0"/>
              <a:t>   - 72시간 </a:t>
            </a:r>
            <a:r>
              <a:rPr sz="2000" dirty="0" err="1"/>
              <a:t>연속</a:t>
            </a:r>
            <a:r>
              <a:rPr sz="2000" dirty="0"/>
              <a:t> </a:t>
            </a:r>
            <a:r>
              <a:rPr sz="2000" dirty="0" err="1"/>
              <a:t>가동</a:t>
            </a:r>
            <a:r>
              <a:rPr sz="2000" dirty="0"/>
              <a:t> 후 </a:t>
            </a:r>
            <a:r>
              <a:rPr sz="2000" dirty="0" err="1"/>
              <a:t>시스템</a:t>
            </a:r>
            <a:r>
              <a:rPr sz="2000" dirty="0"/>
              <a:t> </a:t>
            </a:r>
            <a:r>
              <a:rPr sz="2000" dirty="0" err="1"/>
              <a:t>로그</a:t>
            </a:r>
            <a:r>
              <a:rPr sz="2000" dirty="0"/>
              <a:t>(</a:t>
            </a:r>
            <a:r>
              <a:rPr sz="2000" dirty="0" err="1"/>
              <a:t>재부팅</a:t>
            </a:r>
            <a:r>
              <a:rPr sz="2000" dirty="0"/>
              <a:t>, </a:t>
            </a:r>
            <a:r>
              <a:rPr sz="2000" dirty="0" err="1"/>
              <a:t>에러</a:t>
            </a:r>
            <a:r>
              <a:rPr sz="2000" dirty="0"/>
              <a:t>) </a:t>
            </a:r>
            <a:r>
              <a:rPr sz="2000" dirty="0" err="1"/>
              <a:t>점검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400" dirty="0"/>
              <a:t>3-C. </a:t>
            </a:r>
            <a:r>
              <a:rPr sz="2400" dirty="0" err="1"/>
              <a:t>저장</a:t>
            </a:r>
            <a:r>
              <a:rPr sz="2400" dirty="0"/>
              <a:t> 및 </a:t>
            </a:r>
            <a:r>
              <a:rPr sz="2400" dirty="0" err="1"/>
              <a:t>안정성</a:t>
            </a:r>
            <a:r>
              <a:rPr sz="2400" dirty="0"/>
              <a:t> (Storage &amp; Reliability)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C-1. RAID </a:t>
            </a:r>
            <a:r>
              <a:rPr sz="2000" dirty="0" err="1"/>
              <a:t>구성</a:t>
            </a:r>
            <a:endParaRPr sz="2000" dirty="0"/>
          </a:p>
          <a:p>
            <a:r>
              <a:rPr sz="2000" dirty="0"/>
              <a:t>   - RAID 5/6 </a:t>
            </a:r>
            <a:r>
              <a:rPr sz="2000" dirty="0" err="1"/>
              <a:t>볼륨</a:t>
            </a:r>
            <a:r>
              <a:rPr sz="2000" dirty="0"/>
              <a:t> </a:t>
            </a:r>
            <a:r>
              <a:rPr sz="2000" dirty="0" err="1"/>
              <a:t>생성</a:t>
            </a:r>
            <a:r>
              <a:rPr sz="2000" dirty="0"/>
              <a:t> 및 </a:t>
            </a:r>
            <a:r>
              <a:rPr sz="2000" dirty="0" err="1"/>
              <a:t>설정</a:t>
            </a:r>
            <a:r>
              <a:rPr sz="2000" dirty="0"/>
              <a:t> </a:t>
            </a:r>
            <a:r>
              <a:rPr sz="2000" dirty="0" err="1"/>
              <a:t>용이성</a:t>
            </a:r>
            <a:endParaRPr sz="2000" dirty="0"/>
          </a:p>
          <a:p>
            <a:endParaRPr sz="2000" dirty="0"/>
          </a:p>
          <a:p>
            <a:r>
              <a:rPr sz="2000" dirty="0"/>
              <a:t>C-2. HDD </a:t>
            </a:r>
            <a:r>
              <a:rPr sz="2000" dirty="0" err="1"/>
              <a:t>장애</a:t>
            </a:r>
            <a:r>
              <a:rPr sz="2000" dirty="0"/>
              <a:t> </a:t>
            </a:r>
            <a:r>
              <a:rPr sz="2000" dirty="0" err="1"/>
              <a:t>대응</a:t>
            </a:r>
            <a:r>
              <a:rPr sz="2000" dirty="0"/>
              <a:t> (Rebuild)</a:t>
            </a:r>
          </a:p>
          <a:p>
            <a:r>
              <a:rPr sz="2000" dirty="0"/>
              <a:t>   - </a:t>
            </a:r>
            <a:r>
              <a:rPr sz="2000" dirty="0" err="1"/>
              <a:t>녹화</a:t>
            </a:r>
            <a:r>
              <a:rPr sz="2000" dirty="0"/>
              <a:t> 중 HDD </a:t>
            </a:r>
            <a:r>
              <a:rPr sz="2000" dirty="0" err="1"/>
              <a:t>강제</a:t>
            </a:r>
            <a:r>
              <a:rPr sz="2000" dirty="0"/>
              <a:t> </a:t>
            </a:r>
            <a:r>
              <a:rPr sz="2000" dirty="0" err="1"/>
              <a:t>탈거</a:t>
            </a:r>
            <a:r>
              <a:rPr sz="2000" dirty="0"/>
              <a:t> 후 </a:t>
            </a:r>
            <a:r>
              <a:rPr sz="2000" dirty="0" err="1"/>
              <a:t>리빌딩</a:t>
            </a:r>
            <a:r>
              <a:rPr sz="2000" dirty="0"/>
              <a:t> 시 </a:t>
            </a:r>
            <a:r>
              <a:rPr sz="2000" dirty="0" err="1"/>
              <a:t>녹화</a:t>
            </a:r>
            <a:r>
              <a:rPr sz="2000" dirty="0"/>
              <a:t> </a:t>
            </a:r>
            <a:r>
              <a:rPr sz="2000" dirty="0" err="1"/>
              <a:t>지속</a:t>
            </a:r>
            <a:r>
              <a:rPr sz="2000" dirty="0"/>
              <a:t> </a:t>
            </a:r>
            <a:r>
              <a:rPr sz="2000" dirty="0" err="1"/>
              <a:t>여부</a:t>
            </a:r>
            <a:r>
              <a:rPr sz="2000" dirty="0"/>
              <a:t> </a:t>
            </a:r>
            <a:r>
              <a:rPr sz="2000" dirty="0" err="1"/>
              <a:t>확인</a:t>
            </a:r>
            <a:endParaRPr sz="2000" dirty="0"/>
          </a:p>
          <a:p>
            <a:endParaRPr sz="2000" dirty="0"/>
          </a:p>
          <a:p>
            <a:r>
              <a:rPr sz="2000" dirty="0"/>
              <a:t>C-3. Hot Spare (N+1)</a:t>
            </a:r>
          </a:p>
          <a:p>
            <a:r>
              <a:rPr sz="2000" dirty="0"/>
              <a:t>   - </a:t>
            </a:r>
            <a:r>
              <a:rPr sz="2000" dirty="0" err="1"/>
              <a:t>예비</a:t>
            </a:r>
            <a:r>
              <a:rPr sz="2000" dirty="0"/>
              <a:t> </a:t>
            </a:r>
            <a:r>
              <a:rPr sz="2000" dirty="0" err="1"/>
              <a:t>디스크</a:t>
            </a:r>
            <a:r>
              <a:rPr sz="2000" dirty="0"/>
              <a:t>/</a:t>
            </a:r>
            <a:r>
              <a:rPr sz="2000" dirty="0" err="1"/>
              <a:t>장비</a:t>
            </a:r>
            <a:r>
              <a:rPr sz="2000" dirty="0"/>
              <a:t> </a:t>
            </a:r>
            <a:r>
              <a:rPr sz="2000" dirty="0" err="1"/>
              <a:t>자동</a:t>
            </a:r>
            <a:r>
              <a:rPr sz="2000" dirty="0"/>
              <a:t> </a:t>
            </a:r>
            <a:r>
              <a:rPr sz="2000" dirty="0" err="1"/>
              <a:t>전환</a:t>
            </a:r>
            <a:r>
              <a:rPr sz="2000" dirty="0"/>
              <a:t> </a:t>
            </a:r>
            <a:r>
              <a:rPr sz="2000" dirty="0" err="1"/>
              <a:t>테스트</a:t>
            </a:r>
            <a:endParaRPr sz="2000" dirty="0"/>
          </a:p>
          <a:p>
            <a:endParaRPr sz="2000" dirty="0"/>
          </a:p>
          <a:p>
            <a:r>
              <a:rPr sz="2000" dirty="0"/>
              <a:t>C-4. ANR (</a:t>
            </a:r>
            <a:r>
              <a:rPr sz="2000" dirty="0" err="1"/>
              <a:t>네트워크</a:t>
            </a:r>
            <a:r>
              <a:rPr sz="2000" dirty="0"/>
              <a:t> </a:t>
            </a:r>
            <a:r>
              <a:rPr sz="2000" dirty="0" err="1"/>
              <a:t>단절</a:t>
            </a:r>
            <a:r>
              <a:rPr sz="2000" dirty="0"/>
              <a:t> </a:t>
            </a:r>
            <a:r>
              <a:rPr sz="2000" dirty="0" err="1"/>
              <a:t>보정</a:t>
            </a:r>
            <a:r>
              <a:rPr sz="2000" dirty="0"/>
              <a:t>)</a:t>
            </a:r>
          </a:p>
          <a:p>
            <a:r>
              <a:rPr sz="2000" dirty="0"/>
              <a:t>   - </a:t>
            </a:r>
            <a:r>
              <a:rPr sz="2000" dirty="0" err="1"/>
              <a:t>네트워크</a:t>
            </a:r>
            <a:r>
              <a:rPr sz="2000" dirty="0"/>
              <a:t> </a:t>
            </a:r>
            <a:r>
              <a:rPr sz="2000" dirty="0" err="1"/>
              <a:t>재연결</a:t>
            </a:r>
            <a:r>
              <a:rPr sz="2000" dirty="0"/>
              <a:t> 시 </a:t>
            </a:r>
            <a:r>
              <a:rPr sz="2000" dirty="0" err="1"/>
              <a:t>카메라</a:t>
            </a:r>
            <a:r>
              <a:rPr sz="2000" dirty="0"/>
              <a:t> </a:t>
            </a:r>
            <a:r>
              <a:rPr sz="2000" dirty="0" err="1"/>
              <a:t>SD카드</a:t>
            </a:r>
            <a:r>
              <a:rPr sz="2000" dirty="0"/>
              <a:t> </a:t>
            </a:r>
            <a:r>
              <a:rPr sz="2000" dirty="0" err="1"/>
              <a:t>데이터</a:t>
            </a:r>
            <a:r>
              <a:rPr sz="2000" dirty="0"/>
              <a:t> </a:t>
            </a:r>
            <a:r>
              <a:rPr sz="2000" dirty="0" err="1"/>
              <a:t>자동</a:t>
            </a:r>
            <a:r>
              <a:rPr sz="2000" dirty="0"/>
              <a:t> </a:t>
            </a:r>
            <a:r>
              <a:rPr sz="2000" dirty="0" err="1"/>
              <a:t>백업</a:t>
            </a:r>
            <a:r>
              <a:rPr sz="2000" dirty="0"/>
              <a:t> </a:t>
            </a:r>
            <a:r>
              <a:rPr sz="2000" dirty="0" err="1"/>
              <a:t>확인</a:t>
            </a:r>
            <a:endParaRPr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400" dirty="0"/>
              <a:t>3-D. </a:t>
            </a:r>
            <a:r>
              <a:rPr sz="2400" dirty="0" err="1"/>
              <a:t>지능형</a:t>
            </a:r>
            <a:r>
              <a:rPr sz="2400" dirty="0"/>
              <a:t> </a:t>
            </a:r>
            <a:r>
              <a:rPr sz="2400" dirty="0" err="1"/>
              <a:t>기능</a:t>
            </a:r>
            <a:r>
              <a:rPr sz="2400" dirty="0"/>
              <a:t> 및 </a:t>
            </a:r>
            <a:r>
              <a:rPr sz="2400" dirty="0" err="1"/>
              <a:t>검색</a:t>
            </a:r>
            <a:r>
              <a:rPr sz="2400" dirty="0"/>
              <a:t> (AI &amp; Search)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D-1. VCA </a:t>
            </a:r>
            <a:r>
              <a:rPr sz="2000" dirty="0" err="1"/>
              <a:t>분석</a:t>
            </a:r>
            <a:r>
              <a:rPr sz="2000" dirty="0"/>
              <a:t> (</a:t>
            </a:r>
            <a:r>
              <a:rPr sz="2000" dirty="0" err="1"/>
              <a:t>침입</a:t>
            </a:r>
            <a:r>
              <a:rPr sz="2000" dirty="0"/>
              <a:t>/</a:t>
            </a:r>
            <a:r>
              <a:rPr sz="2000" dirty="0" err="1"/>
              <a:t>라인</a:t>
            </a:r>
            <a:r>
              <a:rPr sz="2000" dirty="0"/>
              <a:t> </a:t>
            </a:r>
            <a:r>
              <a:rPr sz="2000" dirty="0" err="1"/>
              <a:t>크로싱</a:t>
            </a:r>
            <a:r>
              <a:rPr sz="2000" dirty="0"/>
              <a:t>)</a:t>
            </a:r>
          </a:p>
          <a:p>
            <a:r>
              <a:rPr sz="2000" dirty="0"/>
              <a:t>   - </a:t>
            </a:r>
            <a:r>
              <a:rPr sz="2000" dirty="0" err="1"/>
              <a:t>구역</a:t>
            </a:r>
            <a:r>
              <a:rPr sz="2000" dirty="0"/>
              <a:t> </a:t>
            </a:r>
            <a:r>
              <a:rPr sz="2000" dirty="0" err="1"/>
              <a:t>설정</a:t>
            </a:r>
            <a:r>
              <a:rPr sz="2000" dirty="0"/>
              <a:t> 후 </a:t>
            </a:r>
            <a:r>
              <a:rPr sz="2000" dirty="0" err="1"/>
              <a:t>객체</a:t>
            </a:r>
            <a:r>
              <a:rPr sz="2000" dirty="0"/>
              <a:t> </a:t>
            </a:r>
            <a:r>
              <a:rPr sz="2000" dirty="0" err="1"/>
              <a:t>진입</a:t>
            </a:r>
            <a:r>
              <a:rPr sz="2000" dirty="0"/>
              <a:t> 시 </a:t>
            </a:r>
            <a:r>
              <a:rPr sz="2000" dirty="0" err="1"/>
              <a:t>알람</a:t>
            </a:r>
            <a:r>
              <a:rPr sz="2000" dirty="0"/>
              <a:t> </a:t>
            </a:r>
            <a:r>
              <a:rPr sz="2000" dirty="0" err="1"/>
              <a:t>정확도</a:t>
            </a:r>
            <a:r>
              <a:rPr sz="2000" dirty="0"/>
              <a:t> (90% </a:t>
            </a:r>
            <a:r>
              <a:rPr sz="2000" dirty="0" err="1"/>
              <a:t>이상</a:t>
            </a:r>
            <a:r>
              <a:rPr sz="2000" dirty="0"/>
              <a:t>)</a:t>
            </a:r>
          </a:p>
          <a:p>
            <a:endParaRPr sz="2000" dirty="0"/>
          </a:p>
          <a:p>
            <a:r>
              <a:rPr sz="2000" dirty="0"/>
              <a:t>D-2. </a:t>
            </a:r>
            <a:r>
              <a:rPr sz="2000" dirty="0" err="1"/>
              <a:t>객체</a:t>
            </a:r>
            <a:r>
              <a:rPr sz="2000" dirty="0"/>
              <a:t> </a:t>
            </a:r>
            <a:r>
              <a:rPr sz="2000" dirty="0" err="1"/>
              <a:t>구분</a:t>
            </a:r>
            <a:r>
              <a:rPr sz="2000" dirty="0"/>
              <a:t> (Smart Intrusion Prevention)</a:t>
            </a:r>
          </a:p>
          <a:p>
            <a:r>
              <a:rPr sz="2000" dirty="0"/>
              <a:t>   - </a:t>
            </a:r>
            <a:r>
              <a:rPr sz="2000" dirty="0" err="1"/>
              <a:t>사람</a:t>
            </a:r>
            <a:r>
              <a:rPr sz="2000" dirty="0"/>
              <a:t>/</a:t>
            </a:r>
            <a:r>
              <a:rPr sz="2000" dirty="0" err="1"/>
              <a:t>차량</a:t>
            </a:r>
            <a:r>
              <a:rPr sz="2000" dirty="0"/>
              <a:t> </a:t>
            </a:r>
            <a:r>
              <a:rPr sz="2000" dirty="0" err="1"/>
              <a:t>분류</a:t>
            </a:r>
            <a:r>
              <a:rPr sz="2000" dirty="0"/>
              <a:t> </a:t>
            </a:r>
            <a:r>
              <a:rPr sz="2000" dirty="0" err="1"/>
              <a:t>필터링</a:t>
            </a:r>
            <a:r>
              <a:rPr sz="2000" dirty="0"/>
              <a:t> </a:t>
            </a:r>
            <a:r>
              <a:rPr sz="2000" dirty="0" err="1"/>
              <a:t>성능</a:t>
            </a:r>
            <a:r>
              <a:rPr sz="2000" dirty="0"/>
              <a:t> (</a:t>
            </a:r>
            <a:r>
              <a:rPr sz="2000" dirty="0" err="1"/>
              <a:t>동물</a:t>
            </a:r>
            <a:r>
              <a:rPr sz="2000" dirty="0"/>
              <a:t>, </a:t>
            </a:r>
            <a:r>
              <a:rPr sz="2000" dirty="0" err="1"/>
              <a:t>나뭇잎</a:t>
            </a:r>
            <a:r>
              <a:rPr sz="2000" dirty="0"/>
              <a:t> </a:t>
            </a:r>
            <a:r>
              <a:rPr sz="2000" dirty="0" err="1"/>
              <a:t>오작동</a:t>
            </a:r>
            <a:r>
              <a:rPr sz="2000" dirty="0"/>
              <a:t> </a:t>
            </a:r>
            <a:r>
              <a:rPr sz="2000" dirty="0" err="1"/>
              <a:t>제외</a:t>
            </a:r>
            <a:r>
              <a:rPr sz="2000" dirty="0"/>
              <a:t>)</a:t>
            </a:r>
          </a:p>
          <a:p>
            <a:endParaRPr sz="2000" dirty="0"/>
          </a:p>
          <a:p>
            <a:r>
              <a:rPr sz="2000" dirty="0"/>
              <a:t>D-3. </a:t>
            </a:r>
            <a:r>
              <a:rPr sz="2000" dirty="0" err="1"/>
              <a:t>스마트</a:t>
            </a:r>
            <a:r>
              <a:rPr sz="2000" dirty="0"/>
              <a:t> </a:t>
            </a:r>
            <a:r>
              <a:rPr sz="2000" dirty="0" err="1"/>
              <a:t>검색</a:t>
            </a:r>
            <a:r>
              <a:rPr sz="2000" dirty="0"/>
              <a:t> (</a:t>
            </a:r>
            <a:r>
              <a:rPr sz="2000" dirty="0" err="1"/>
              <a:t>AcuSearch</a:t>
            </a:r>
            <a:r>
              <a:rPr sz="2000" dirty="0"/>
              <a:t>)</a:t>
            </a:r>
          </a:p>
          <a:p>
            <a:r>
              <a:rPr sz="2000" dirty="0"/>
              <a:t>   - </a:t>
            </a:r>
            <a:r>
              <a:rPr sz="2000" dirty="0" err="1"/>
              <a:t>속성</a:t>
            </a:r>
            <a:r>
              <a:rPr sz="2000" dirty="0"/>
              <a:t> </a:t>
            </a:r>
            <a:r>
              <a:rPr sz="2000" dirty="0" err="1"/>
              <a:t>검색</a:t>
            </a:r>
            <a:r>
              <a:rPr sz="2000" dirty="0"/>
              <a:t>(</a:t>
            </a:r>
            <a:r>
              <a:rPr sz="2000" dirty="0" err="1"/>
              <a:t>빨간</a:t>
            </a:r>
            <a:r>
              <a:rPr sz="2000" dirty="0"/>
              <a:t> 옷, </a:t>
            </a:r>
            <a:r>
              <a:rPr sz="2000" dirty="0" err="1"/>
              <a:t>차량</a:t>
            </a:r>
            <a:r>
              <a:rPr sz="2000" dirty="0"/>
              <a:t> 등) 시 </a:t>
            </a:r>
            <a:r>
              <a:rPr sz="2000" dirty="0" err="1"/>
              <a:t>검색</a:t>
            </a:r>
            <a:r>
              <a:rPr sz="2000" dirty="0"/>
              <a:t> </a:t>
            </a:r>
            <a:r>
              <a:rPr sz="2000" dirty="0" err="1"/>
              <a:t>속도</a:t>
            </a:r>
            <a:r>
              <a:rPr sz="2000" dirty="0"/>
              <a:t> </a:t>
            </a:r>
            <a:r>
              <a:rPr sz="2000" dirty="0" err="1"/>
              <a:t>측정</a:t>
            </a:r>
            <a:endParaRPr sz="2000" dirty="0"/>
          </a:p>
          <a:p>
            <a:endParaRPr sz="2000" dirty="0"/>
          </a:p>
          <a:p>
            <a:r>
              <a:rPr sz="2000" dirty="0"/>
              <a:t>D-4. </a:t>
            </a:r>
            <a:r>
              <a:rPr sz="2000" dirty="0" err="1"/>
              <a:t>얼굴</a:t>
            </a:r>
            <a:r>
              <a:rPr sz="2000" dirty="0"/>
              <a:t> </a:t>
            </a:r>
            <a:r>
              <a:rPr sz="2000" dirty="0" err="1"/>
              <a:t>인식</a:t>
            </a:r>
            <a:r>
              <a:rPr sz="2000" dirty="0"/>
              <a:t> (Face Detection)</a:t>
            </a:r>
          </a:p>
          <a:p>
            <a:r>
              <a:rPr sz="2000" dirty="0"/>
              <a:t>   - </a:t>
            </a:r>
            <a:r>
              <a:rPr sz="2000" dirty="0" err="1"/>
              <a:t>등록된</a:t>
            </a:r>
            <a:r>
              <a:rPr sz="2000" dirty="0"/>
              <a:t> </a:t>
            </a:r>
            <a:r>
              <a:rPr sz="2000" dirty="0" err="1"/>
              <a:t>얼굴</a:t>
            </a:r>
            <a:r>
              <a:rPr sz="2000" dirty="0"/>
              <a:t> </a:t>
            </a:r>
            <a:r>
              <a:rPr sz="2000" dirty="0" err="1"/>
              <a:t>매칭</a:t>
            </a:r>
            <a:r>
              <a:rPr sz="2000" dirty="0"/>
              <a:t> 및 </a:t>
            </a:r>
            <a:r>
              <a:rPr sz="2000" dirty="0" err="1"/>
              <a:t>즉시</a:t>
            </a:r>
            <a:r>
              <a:rPr sz="2000" dirty="0"/>
              <a:t> </a:t>
            </a:r>
            <a:r>
              <a:rPr sz="2000" dirty="0" err="1"/>
              <a:t>알람</a:t>
            </a:r>
            <a:r>
              <a:rPr sz="2000" dirty="0"/>
              <a:t> </a:t>
            </a:r>
            <a:r>
              <a:rPr sz="2000" dirty="0" err="1"/>
              <a:t>표출</a:t>
            </a:r>
            <a:r>
              <a:rPr sz="2000" dirty="0"/>
              <a:t> </a:t>
            </a:r>
            <a:r>
              <a:rPr sz="2000" dirty="0" err="1"/>
              <a:t>여부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400" dirty="0"/>
              <a:t>3-E. </a:t>
            </a:r>
            <a:r>
              <a:rPr sz="2400" dirty="0" err="1"/>
              <a:t>네트워크</a:t>
            </a:r>
            <a:r>
              <a:rPr sz="2400" dirty="0"/>
              <a:t> 및 </a:t>
            </a:r>
            <a:r>
              <a:rPr sz="2400" dirty="0" err="1"/>
              <a:t>보안</a:t>
            </a:r>
            <a:r>
              <a:rPr sz="2400" dirty="0"/>
              <a:t> / 3-F. </a:t>
            </a:r>
            <a:r>
              <a:rPr sz="2400" dirty="0" err="1"/>
              <a:t>호환성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■ </a:t>
            </a:r>
            <a:r>
              <a:rPr sz="2000" dirty="0" err="1"/>
              <a:t>네트워크</a:t>
            </a:r>
            <a:r>
              <a:rPr sz="2000" dirty="0"/>
              <a:t> 및 </a:t>
            </a:r>
            <a:r>
              <a:rPr sz="2000" dirty="0" err="1"/>
              <a:t>보안</a:t>
            </a:r>
            <a:endParaRPr sz="2000" dirty="0"/>
          </a:p>
          <a:p>
            <a:r>
              <a:rPr sz="2000" dirty="0"/>
              <a:t>- E-1. </a:t>
            </a:r>
            <a:r>
              <a:rPr sz="2000" dirty="0" err="1"/>
              <a:t>원격</a:t>
            </a:r>
            <a:r>
              <a:rPr sz="2000" dirty="0"/>
              <a:t> </a:t>
            </a:r>
            <a:r>
              <a:rPr sz="2000" dirty="0" err="1"/>
              <a:t>접속</a:t>
            </a:r>
            <a:r>
              <a:rPr sz="2000" dirty="0"/>
              <a:t>: </a:t>
            </a:r>
            <a:r>
              <a:rPr sz="2000" dirty="0" err="1"/>
              <a:t>모바일</a:t>
            </a:r>
            <a:r>
              <a:rPr sz="2000" dirty="0"/>
              <a:t> 앱 16분할 </a:t>
            </a:r>
            <a:r>
              <a:rPr sz="2000" dirty="0" err="1"/>
              <a:t>라이브</a:t>
            </a:r>
            <a:r>
              <a:rPr sz="2000" dirty="0"/>
              <a:t> </a:t>
            </a:r>
            <a:r>
              <a:rPr sz="2000" dirty="0" err="1"/>
              <a:t>로딩</a:t>
            </a:r>
            <a:r>
              <a:rPr sz="2000" dirty="0"/>
              <a:t> </a:t>
            </a:r>
            <a:r>
              <a:rPr sz="2000" dirty="0" err="1"/>
              <a:t>속도</a:t>
            </a:r>
            <a:r>
              <a:rPr sz="2000" dirty="0"/>
              <a:t> (3초 </a:t>
            </a:r>
            <a:r>
              <a:rPr sz="2000" dirty="0" err="1"/>
              <a:t>이내</a:t>
            </a:r>
            <a:r>
              <a:rPr sz="2000" dirty="0"/>
              <a:t>)</a:t>
            </a:r>
          </a:p>
          <a:p>
            <a:r>
              <a:rPr sz="2000" dirty="0"/>
              <a:t>- E-2. </a:t>
            </a:r>
            <a:r>
              <a:rPr sz="2000" dirty="0" err="1"/>
              <a:t>이중화</a:t>
            </a:r>
            <a:r>
              <a:rPr sz="2000" dirty="0"/>
              <a:t> </a:t>
            </a:r>
            <a:r>
              <a:rPr sz="2000" dirty="0" err="1"/>
              <a:t>네트워크</a:t>
            </a:r>
            <a:r>
              <a:rPr sz="2000" dirty="0"/>
              <a:t>: </a:t>
            </a:r>
            <a:r>
              <a:rPr sz="2000" dirty="0" err="1"/>
              <a:t>듀얼</a:t>
            </a:r>
            <a:r>
              <a:rPr sz="2000" dirty="0"/>
              <a:t> LAN 망 </a:t>
            </a:r>
            <a:r>
              <a:rPr sz="2000" dirty="0" err="1"/>
              <a:t>분리</a:t>
            </a:r>
            <a:r>
              <a:rPr sz="2000" dirty="0"/>
              <a:t> </a:t>
            </a:r>
            <a:r>
              <a:rPr sz="2000" dirty="0" err="1"/>
              <a:t>또는</a:t>
            </a:r>
            <a:r>
              <a:rPr sz="2000" dirty="0"/>
              <a:t> </a:t>
            </a:r>
            <a:r>
              <a:rPr sz="2000" dirty="0" err="1"/>
              <a:t>로드</a:t>
            </a:r>
            <a:r>
              <a:rPr sz="2000" dirty="0"/>
              <a:t> </a:t>
            </a:r>
            <a:r>
              <a:rPr sz="2000" dirty="0" err="1"/>
              <a:t>밸런싱</a:t>
            </a:r>
            <a:endParaRPr sz="2000" dirty="0"/>
          </a:p>
          <a:p>
            <a:r>
              <a:rPr sz="2000" dirty="0"/>
              <a:t>- E-3. </a:t>
            </a:r>
            <a:r>
              <a:rPr sz="2000" dirty="0" err="1"/>
              <a:t>보안</a:t>
            </a:r>
            <a:r>
              <a:rPr sz="2000" dirty="0"/>
              <a:t>: HTTPS 및 802.1x </a:t>
            </a:r>
            <a:r>
              <a:rPr sz="2000" dirty="0" err="1"/>
              <a:t>적용</a:t>
            </a:r>
            <a:r>
              <a:rPr sz="2000" dirty="0"/>
              <a:t> 시 </a:t>
            </a:r>
            <a:r>
              <a:rPr sz="2000" dirty="0" err="1"/>
              <a:t>영상</a:t>
            </a:r>
            <a:r>
              <a:rPr sz="2000" dirty="0"/>
              <a:t> </a:t>
            </a:r>
            <a:r>
              <a:rPr sz="2000" dirty="0" err="1"/>
              <a:t>전송</a:t>
            </a:r>
            <a:r>
              <a:rPr sz="2000" dirty="0"/>
              <a:t> </a:t>
            </a:r>
            <a:r>
              <a:rPr sz="2000" dirty="0" err="1"/>
              <a:t>안정성</a:t>
            </a:r>
            <a:endParaRPr sz="2000" dirty="0"/>
          </a:p>
          <a:p>
            <a:endParaRPr sz="2000" dirty="0"/>
          </a:p>
          <a:p>
            <a:r>
              <a:rPr sz="2000" dirty="0"/>
              <a:t>■ </a:t>
            </a:r>
            <a:r>
              <a:rPr sz="2000" dirty="0" err="1"/>
              <a:t>호환성</a:t>
            </a:r>
            <a:endParaRPr sz="2000" dirty="0"/>
          </a:p>
          <a:p>
            <a:r>
              <a:rPr sz="2000" dirty="0"/>
              <a:t>- F-1. </a:t>
            </a:r>
            <a:r>
              <a:rPr sz="2000" dirty="0" err="1"/>
              <a:t>타사</a:t>
            </a:r>
            <a:r>
              <a:rPr sz="2000" dirty="0"/>
              <a:t> </a:t>
            </a:r>
            <a:r>
              <a:rPr sz="2000" dirty="0" err="1"/>
              <a:t>카메라</a:t>
            </a:r>
            <a:r>
              <a:rPr sz="2000" dirty="0"/>
              <a:t> ONVIF </a:t>
            </a:r>
            <a:r>
              <a:rPr sz="2000" dirty="0" err="1"/>
              <a:t>연동</a:t>
            </a:r>
            <a:r>
              <a:rPr sz="2000" dirty="0"/>
              <a:t> (</a:t>
            </a:r>
            <a:r>
              <a:rPr sz="2000" dirty="0" err="1"/>
              <a:t>라이브</a:t>
            </a:r>
            <a:r>
              <a:rPr sz="2000" dirty="0"/>
              <a:t>, </a:t>
            </a:r>
            <a:r>
              <a:rPr sz="2000" dirty="0" err="1"/>
              <a:t>녹화</a:t>
            </a:r>
            <a:r>
              <a:rPr sz="2000" dirty="0"/>
              <a:t>, PTZ </a:t>
            </a:r>
            <a:r>
              <a:rPr sz="2000" dirty="0" err="1"/>
              <a:t>제어</a:t>
            </a:r>
            <a:r>
              <a:rPr sz="2000" dirty="0"/>
              <a:t> </a:t>
            </a:r>
            <a:r>
              <a:rPr sz="2000" dirty="0" err="1"/>
              <a:t>확인</a:t>
            </a:r>
            <a:r>
              <a:rPr sz="2000"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dirty="0"/>
              <a:t>4. BMT </a:t>
            </a:r>
            <a:r>
              <a:rPr sz="2400" dirty="0" err="1"/>
              <a:t>결과</a:t>
            </a:r>
            <a:r>
              <a:rPr sz="2400" dirty="0"/>
              <a:t> </a:t>
            </a:r>
            <a:r>
              <a:rPr sz="2400" dirty="0" err="1"/>
              <a:t>보고</a:t>
            </a:r>
            <a:r>
              <a:rPr sz="2400" dirty="0"/>
              <a:t> 및 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■ </a:t>
            </a:r>
            <a:r>
              <a:rPr sz="2000" dirty="0" err="1"/>
              <a:t>결과</a:t>
            </a:r>
            <a:r>
              <a:rPr sz="2000" dirty="0"/>
              <a:t> </a:t>
            </a:r>
            <a:r>
              <a:rPr sz="2000" dirty="0" err="1"/>
              <a:t>보고서</a:t>
            </a:r>
            <a:r>
              <a:rPr sz="2000" dirty="0"/>
              <a:t> </a:t>
            </a:r>
            <a:r>
              <a:rPr sz="2000" dirty="0" err="1"/>
              <a:t>항목</a:t>
            </a:r>
            <a:endParaRPr sz="2000" dirty="0"/>
          </a:p>
          <a:p>
            <a:r>
              <a:rPr sz="2000" dirty="0"/>
              <a:t>- </a:t>
            </a:r>
            <a:r>
              <a:rPr sz="2000" dirty="0" err="1"/>
              <a:t>종합</a:t>
            </a:r>
            <a:r>
              <a:rPr sz="2000" dirty="0"/>
              <a:t> </a:t>
            </a:r>
            <a:r>
              <a:rPr sz="2000" dirty="0" err="1"/>
              <a:t>판정</a:t>
            </a:r>
            <a:r>
              <a:rPr sz="2000" dirty="0"/>
              <a:t> (</a:t>
            </a:r>
            <a:r>
              <a:rPr sz="2000" dirty="0" err="1"/>
              <a:t>적합</a:t>
            </a:r>
            <a:r>
              <a:rPr sz="2000" dirty="0"/>
              <a:t> / </a:t>
            </a:r>
            <a:r>
              <a:rPr sz="2000" dirty="0" err="1"/>
              <a:t>부적합</a:t>
            </a:r>
            <a:r>
              <a:rPr sz="2000" dirty="0"/>
              <a:t>)</a:t>
            </a:r>
          </a:p>
          <a:p>
            <a:r>
              <a:rPr sz="2000" dirty="0"/>
              <a:t>- </a:t>
            </a:r>
            <a:r>
              <a:rPr sz="2000" dirty="0" err="1"/>
              <a:t>주요</a:t>
            </a:r>
            <a:r>
              <a:rPr sz="2000" dirty="0"/>
              <a:t> </a:t>
            </a:r>
            <a:r>
              <a:rPr sz="2000" dirty="0" err="1"/>
              <a:t>이슈</a:t>
            </a:r>
            <a:r>
              <a:rPr sz="2000" dirty="0"/>
              <a:t> </a:t>
            </a:r>
            <a:r>
              <a:rPr sz="2000" dirty="0" err="1"/>
              <a:t>사항</a:t>
            </a:r>
            <a:r>
              <a:rPr sz="2000" dirty="0"/>
              <a:t> 및 </a:t>
            </a:r>
            <a:r>
              <a:rPr sz="2000" dirty="0" err="1"/>
              <a:t>개선</a:t>
            </a:r>
            <a:r>
              <a:rPr sz="2000" dirty="0"/>
              <a:t> </a:t>
            </a:r>
            <a:r>
              <a:rPr sz="2000" dirty="0" err="1"/>
              <a:t>필요점</a:t>
            </a:r>
            <a:endParaRPr sz="2000" dirty="0"/>
          </a:p>
          <a:p>
            <a:r>
              <a:rPr sz="2000" dirty="0"/>
              <a:t>- </a:t>
            </a:r>
            <a:r>
              <a:rPr sz="2000" dirty="0" err="1"/>
              <a:t>운영</a:t>
            </a:r>
            <a:r>
              <a:rPr sz="2000" dirty="0"/>
              <a:t> </a:t>
            </a:r>
            <a:r>
              <a:rPr sz="2000" dirty="0" err="1"/>
              <a:t>권고</a:t>
            </a:r>
            <a:r>
              <a:rPr sz="2000" dirty="0"/>
              <a:t> </a:t>
            </a:r>
            <a:r>
              <a:rPr sz="2000" dirty="0" err="1"/>
              <a:t>사항</a:t>
            </a:r>
            <a:r>
              <a:rPr sz="2000" dirty="0"/>
              <a:t> (HDD </a:t>
            </a:r>
            <a:r>
              <a:rPr sz="2000" dirty="0" err="1"/>
              <a:t>등급</a:t>
            </a:r>
            <a:r>
              <a:rPr sz="2000" dirty="0"/>
              <a:t>, </a:t>
            </a:r>
            <a:r>
              <a:rPr sz="2000" dirty="0" err="1"/>
              <a:t>네트워크</a:t>
            </a:r>
            <a:r>
              <a:rPr sz="2000" dirty="0"/>
              <a:t> </a:t>
            </a:r>
            <a:r>
              <a:rPr sz="2000" dirty="0" err="1"/>
              <a:t>구성</a:t>
            </a:r>
            <a:r>
              <a:rPr sz="2000" dirty="0"/>
              <a:t> 등)</a:t>
            </a:r>
          </a:p>
          <a:p>
            <a:endParaRPr sz="2000" dirty="0"/>
          </a:p>
          <a:p>
            <a:r>
              <a:rPr sz="2000" dirty="0"/>
              <a:t>■ </a:t>
            </a:r>
            <a:r>
              <a:rPr sz="2000" dirty="0" err="1"/>
              <a:t>테스트</a:t>
            </a:r>
            <a:r>
              <a:rPr sz="2000" dirty="0"/>
              <a:t> 팁</a:t>
            </a:r>
          </a:p>
          <a:p>
            <a:r>
              <a:rPr sz="2000" dirty="0"/>
              <a:t>- </a:t>
            </a:r>
            <a:r>
              <a:rPr sz="2000" dirty="0" err="1"/>
              <a:t>대량</a:t>
            </a:r>
            <a:r>
              <a:rPr sz="2000" dirty="0"/>
              <a:t> </a:t>
            </a:r>
            <a:r>
              <a:rPr sz="2000" dirty="0" err="1"/>
              <a:t>설정</a:t>
            </a:r>
            <a:r>
              <a:rPr sz="2000" dirty="0"/>
              <a:t> 시 </a:t>
            </a:r>
            <a:r>
              <a:rPr sz="2000" dirty="0" err="1"/>
              <a:t>EZTools</a:t>
            </a:r>
            <a:r>
              <a:rPr sz="2000" dirty="0"/>
              <a:t>/Guard Station CMS </a:t>
            </a:r>
            <a:r>
              <a:rPr sz="2000" dirty="0" err="1"/>
              <a:t>활용</a:t>
            </a:r>
            <a:r>
              <a:rPr sz="2000" dirty="0"/>
              <a:t> </a:t>
            </a:r>
            <a:r>
              <a:rPr sz="2000" dirty="0" err="1"/>
              <a:t>권장</a:t>
            </a:r>
            <a:endParaRPr sz="2000" dirty="0"/>
          </a:p>
          <a:p>
            <a:r>
              <a:rPr sz="2000" dirty="0"/>
              <a:t>- 'Smart Mode' On/</a:t>
            </a:r>
            <a:r>
              <a:rPr sz="2000" dirty="0" err="1"/>
              <a:t>Off에</a:t>
            </a:r>
            <a:r>
              <a:rPr sz="2000" dirty="0"/>
              <a:t> </a:t>
            </a:r>
            <a:r>
              <a:rPr sz="2000" dirty="0" err="1"/>
              <a:t>따른</a:t>
            </a:r>
            <a:r>
              <a:rPr sz="2000" dirty="0"/>
              <a:t> </a:t>
            </a:r>
            <a:r>
              <a:rPr sz="2000" dirty="0" err="1"/>
              <a:t>대역폭</a:t>
            </a:r>
            <a:r>
              <a:rPr sz="2000" dirty="0"/>
              <a:t> </a:t>
            </a:r>
            <a:r>
              <a:rPr sz="2000" dirty="0" err="1"/>
              <a:t>차이</a:t>
            </a:r>
            <a:r>
              <a:rPr sz="2000" dirty="0"/>
              <a:t>(200M vs 384M) </a:t>
            </a:r>
            <a:r>
              <a:rPr sz="2000" dirty="0" err="1"/>
              <a:t>비교</a:t>
            </a:r>
            <a:r>
              <a:rPr sz="2000" dirty="0"/>
              <a:t> </a:t>
            </a:r>
            <a:r>
              <a:rPr sz="2000" dirty="0" err="1"/>
              <a:t>필수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653</Words>
  <Application>Microsoft Office PowerPoint</Application>
  <PresentationFormat>화면 슬라이드 쇼(4:3)</PresentationFormat>
  <Paragraphs>86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NVR3864-V6-IQ 신규 도입 BMT 테스트 계획</vt:lpstr>
      <vt:lpstr>1. BMT 개요 및 목적</vt:lpstr>
      <vt:lpstr>2. 테스트 환경 구성 (권장)</vt:lpstr>
      <vt:lpstr>3-A. 기본 성능 및 UI (General Performance)</vt:lpstr>
      <vt:lpstr>3-B. 영상 처리 및 부하 (Processing &amp; Load)</vt:lpstr>
      <vt:lpstr>3-C. 저장 및 안정성 (Storage &amp; Reliability)</vt:lpstr>
      <vt:lpstr>3-D. 지능형 기능 및 검색 (AI &amp; Search)</vt:lpstr>
      <vt:lpstr>3-E. 네트워크 및 보안 / 3-F. 호환성</vt:lpstr>
      <vt:lpstr>4. BMT 결과 보고 및 팁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NVR3864-V6-IQ 신규 도입 BMT 테스트 계획</dc:title>
  <dc:subject/>
  <dc:creator/>
  <cp:keywords/>
  <dc:description>generated using python-pptx</dc:description>
  <cp:lastModifiedBy>user_856</cp:lastModifiedBy>
  <cp:revision>3</cp:revision>
  <dcterms:created xsi:type="dcterms:W3CDTF">2013-01-27T09:14:16Z</dcterms:created>
  <dcterms:modified xsi:type="dcterms:W3CDTF">2026-02-02T07:18:14Z</dcterms:modified>
  <cp:category/>
</cp:coreProperties>
</file>